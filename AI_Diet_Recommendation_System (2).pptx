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XGBoost</c:v>
                  </c:pt>
                  <c:pt idx="4">
                    <c:v>KNN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</c:v>
                </c:pt>
                <c:pt idx="1">
                  <c:v>98</c:v>
                </c:pt>
                <c:pt idx="2">
                  <c:v>99</c:v>
                </c:pt>
                <c:pt idx="3">
                  <c:v>99</c:v>
                </c:pt>
                <c:pt idx="4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6.png"/><Relationship Id="rId9" Type="http://schemas.openxmlformats.org/officeDocument/2006/relationships/image" Target="../media/image-7-6.png"/><Relationship Id="rId10" Type="http://schemas.openxmlformats.org/officeDocument/2006/relationships/image" Target="../media/image-7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69080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4" name="Image 0" descr="icons/leaf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246" y="82524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331720"/>
            <a:ext cx="7223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DIET RECOMMENDATION SYSTEM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37947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Nutrition Guidance Powered by Machine Learning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94360" y="466344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66344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883664" y="466344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83664" y="466344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99232" y="4663440"/>
            <a:ext cx="1559052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99232" y="4663440"/>
            <a:ext cx="15590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22876" y="4663440"/>
            <a:ext cx="1385316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2876" y="4663440"/>
            <a:ext cx="1385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366760" y="28803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•  BMI  •  Disease Type  •  Activity Level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052560" y="41605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icons/apple_065F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04" y="4398264"/>
            <a:ext cx="713232" cy="71323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052560" y="41605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icons/apple_0F17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078" y="4422038"/>
            <a:ext cx="665683" cy="66568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43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Machine Learning &amp; Web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diet advice doesn't work for everyone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icons/warning_10B9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229285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Advice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4871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diet plans ignore individual differences in age, weight, and health conditions.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192024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0" y="21488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icons/usermd_10B9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938" y="229285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Conditions Are Overlooked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4871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diabetes, hypertension, or obesity need very different nutrition strategies.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8404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icons/chart_10B98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398449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94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Level Rarely Considered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1788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sedentary person and an athlete have vastly different dietary requirements.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89320" y="36118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217920" y="38404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icons/clipboard_10B98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938" y="398449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794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Planning Is Time-Consuming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41788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a nutritionist for every change in lifestyle is slow, costly, and inaccessible.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AI Nutrition Assistant that instantly generates a personalized diet plan using a trained Machine Learning model — analyzing Age, BMI, Disease Type, and Physical Activity Level to recommend the most suitable diet category.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5" name="Image 0" descr="icons/clip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371" y="337985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3227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Input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25880" y="35387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BMI, disease type &amp; activity level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9" name="Image 1" descr="icons/b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71" y="4248531"/>
            <a:ext cx="326898" cy="3268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4096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ML Prediction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25880" y="44074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features passed to trained model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98348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3" name="Image 2" descr="icons/leaf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" y="5117211"/>
            <a:ext cx="326898" cy="3268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965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Diet Output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25880" y="52760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diet plan with food guidance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635240" y="1371600"/>
            <a:ext cx="3977640" cy="4754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</p:sp>
      <p:sp>
        <p:nvSpPr>
          <p:cNvPr id="17" name="Text 12"/>
          <p:cNvSpPr/>
          <p:nvPr/>
        </p:nvSpPr>
        <p:spPr>
          <a:xfrm>
            <a:off x="7909560" y="16002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Diet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909560" y="2011680"/>
            <a:ext cx="3429000" cy="731520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</p:sp>
      <p:sp>
        <p:nvSpPr>
          <p:cNvPr id="19" name="Text 14"/>
          <p:cNvSpPr/>
          <p:nvPr/>
        </p:nvSpPr>
        <p:spPr>
          <a:xfrm>
            <a:off x="7909560" y="20116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Diet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7909560" y="2880360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/>
        </p:spPr>
      </p:sp>
      <p:sp>
        <p:nvSpPr>
          <p:cNvPr id="21" name="Text 16"/>
          <p:cNvSpPr/>
          <p:nvPr/>
        </p:nvSpPr>
        <p:spPr>
          <a:xfrm>
            <a:off x="8001000" y="2971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001000" y="32461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Fruits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Vegetables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Whole Grains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Nuts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Dairy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9674352" y="2880360"/>
            <a:ext cx="1664208" cy="1417320"/>
          </a:xfrm>
          <a:prstGeom prst="roundRect">
            <a:avLst>
              <a:gd name="adj" fmla="val 6452"/>
            </a:avLst>
          </a:prstGeom>
          <a:solidFill>
            <a:srgbClr val="FEF2F2"/>
          </a:solidFill>
          <a:ln/>
        </p:spPr>
      </p:sp>
      <p:sp>
        <p:nvSpPr>
          <p:cNvPr id="24" name="Text 19"/>
          <p:cNvSpPr/>
          <p:nvPr/>
        </p:nvSpPr>
        <p:spPr>
          <a:xfrm>
            <a:off x="9765792" y="2971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9765792" y="32461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Food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Fried Foods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Drinks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Junk Food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Excess Sugar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909560" y="4434840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</p:spPr>
      </p:sp>
      <p:sp>
        <p:nvSpPr>
          <p:cNvPr id="27" name="Shape 22"/>
          <p:cNvSpPr/>
          <p:nvPr/>
        </p:nvSpPr>
        <p:spPr>
          <a:xfrm>
            <a:off x="8092440" y="457200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8" name="Image 3" descr="icons/tint_10B98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310" y="4674870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955280" y="5120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Intake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795528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2.5–3 Litres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9674352" y="4434840"/>
            <a:ext cx="1664208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/>
        </p:spPr>
      </p:sp>
      <p:sp>
        <p:nvSpPr>
          <p:cNvPr id="32" name="Shape 26"/>
          <p:cNvSpPr/>
          <p:nvPr/>
        </p:nvSpPr>
        <p:spPr>
          <a:xfrm>
            <a:off x="9857232" y="457200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3" name="Image 4" descr="icons/running_10B98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102" y="4674870"/>
            <a:ext cx="251460" cy="2514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720072" y="5120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9720072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Walk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5" name="Image 0" descr="icons/brain_10B9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184594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Engine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ML classification model drives every recommendation.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1691640"/>
            <a:ext cx="685800" cy="6858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0" name="Image 1" descr="icons/chart_10B9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305" y="184594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Predictions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real health &amp; nutrition data to classify diets.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321040" y="1691640"/>
            <a:ext cx="685800" cy="6858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5" name="Image 2" descr="icons/check_10B98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45" y="1845945"/>
            <a:ext cx="377190" cy="3771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2104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generated in real time after form submission.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3886200"/>
            <a:ext cx="685800" cy="6858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0" name="Image 3" descr="icons/leaf_10B98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5" y="4040505"/>
            <a:ext cx="377190" cy="3771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663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2296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age, BMI, disease, and activity — not generic advice.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9768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</p:spPr>
      </p:sp>
      <p:sp>
        <p:nvSpPr>
          <p:cNvPr id="24" name="Shape 18"/>
          <p:cNvSpPr/>
          <p:nvPr/>
        </p:nvSpPr>
        <p:spPr>
          <a:xfrm>
            <a:off x="4572000" y="3886200"/>
            <a:ext cx="685800" cy="6858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5" name="Image 4" descr="icons/clipboard_10B98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305" y="4040505"/>
            <a:ext cx="377190" cy="37719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0" y="4663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Food Lists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7200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'recommended' vs 'avoid' food guidance for each diet type.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4672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</p:spPr>
      </p:sp>
      <p:sp>
        <p:nvSpPr>
          <p:cNvPr id="29" name="Shape 22"/>
          <p:cNvSpPr/>
          <p:nvPr/>
        </p:nvSpPr>
        <p:spPr>
          <a:xfrm>
            <a:off x="8321040" y="3886200"/>
            <a:ext cx="685800" cy="6858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0" name="Image 5" descr="icons/mobile_10B98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345" y="4040505"/>
            <a:ext cx="377190" cy="37719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21040" y="4663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Interface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32104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modern UI that adapts to desktop and mobile screens.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5" name="Image 0" descr="icons/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184594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micro-framework serving routes &amp; rendering templates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169164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0" name="Image 1" descr="icons/b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305" y="184594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Model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classifier saved &amp; loaded via Pickle (.pkl)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/>
        </p:spPr>
      </p:sp>
      <p:sp>
        <p:nvSpPr>
          <p:cNvPr id="14" name="Shape 10"/>
          <p:cNvSpPr/>
          <p:nvPr/>
        </p:nvSpPr>
        <p:spPr>
          <a:xfrm>
            <a:off x="8321040" y="169164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5" name="Image 2" descr="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45" y="1845945"/>
            <a:ext cx="377190" cy="3771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2104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HTML rendering with conditional diet content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388620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0" name="Image 3" descr="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5" y="4040505"/>
            <a:ext cx="377190" cy="3771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663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Encoders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2296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Disease, Activity &amp; Diet categories for the model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9768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/>
        </p:spPr>
      </p:sp>
      <p:sp>
        <p:nvSpPr>
          <p:cNvPr id="24" name="Shape 18"/>
          <p:cNvSpPr/>
          <p:nvPr/>
        </p:nvSpPr>
        <p:spPr>
          <a:xfrm>
            <a:off x="4572000" y="388620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5" name="Image 4" descr="icons/leaf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305" y="4040505"/>
            <a:ext cx="377190" cy="37719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0" y="4663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57200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Custom-styled glassmorphism UI with responsive layout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4672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/>
        </p:spPr>
      </p:sp>
      <p:sp>
        <p:nvSpPr>
          <p:cNvPr id="29" name="Shape 22"/>
          <p:cNvSpPr/>
          <p:nvPr/>
        </p:nvSpPr>
        <p:spPr>
          <a:xfrm>
            <a:off x="8321040" y="388620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0" name="Image 5" descr="icons/cog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345" y="4040505"/>
            <a:ext cx="377190" cy="37719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21040" y="4663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32104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user input into model-ready feature arrays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16636" y="2377440"/>
            <a:ext cx="1691640" cy="196596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" y="2578608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5" name="Image 0" descr="icons/clipboard_10B9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007" y="2712339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788" y="329184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Form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89788" y="374904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BMI, Disease,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Level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235708" y="3278124"/>
            <a:ext cx="146304" cy="164592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2409444" y="2377440"/>
            <a:ext cx="1691640" cy="196596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58084" y="2578608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icons/server_10B9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815" y="2712339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82596" y="329184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482596" y="374904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form data,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128516" y="3278124"/>
            <a:ext cx="146304" cy="164592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5" name="Shape 11"/>
          <p:cNvSpPr/>
          <p:nvPr/>
        </p:nvSpPr>
        <p:spPr>
          <a:xfrm>
            <a:off x="4302252" y="2377440"/>
            <a:ext cx="1691640" cy="196596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50892" y="2578608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7" name="Image 2" descr="icons/cogs_10B98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623" y="2712339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75404" y="329184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375404" y="374904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&amp; Activity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021324" y="3278124"/>
            <a:ext cx="146304" cy="164592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21" name="Shape 16"/>
          <p:cNvSpPr/>
          <p:nvPr/>
        </p:nvSpPr>
        <p:spPr>
          <a:xfrm>
            <a:off x="6195060" y="2377440"/>
            <a:ext cx="1691640" cy="196596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43700" y="2578608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3" name="Image 3" descr="icons/brain_10B98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431" y="2712339"/>
            <a:ext cx="326898" cy="32689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8212" y="329184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268212" y="374904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model.predict()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914132" y="3278124"/>
            <a:ext cx="146304" cy="164592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27" name="Shape 21"/>
          <p:cNvSpPr/>
          <p:nvPr/>
        </p:nvSpPr>
        <p:spPr>
          <a:xfrm>
            <a:off x="8087868" y="2377440"/>
            <a:ext cx="1691640" cy="196596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636508" y="2578608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9" name="Image 4" descr="icons/leaf_10B98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0239" y="2712339"/>
            <a:ext cx="326898" cy="32689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161020" y="329184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Decoder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8161020" y="374904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Inverse-transform to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label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9806940" y="3278124"/>
            <a:ext cx="146304" cy="164592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33" name="Shape 26"/>
          <p:cNvSpPr/>
          <p:nvPr/>
        </p:nvSpPr>
        <p:spPr>
          <a:xfrm>
            <a:off x="9980676" y="2377440"/>
            <a:ext cx="1691640" cy="196596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10529316" y="2578608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5" name="Image 5" descr="icons/check_10B98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3047" y="2712339"/>
            <a:ext cx="326898" cy="32689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053828" y="3291840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Result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10053828" y="374904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shows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guidance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raw form input becomes a structured, human-readable diet plan in milliseconds.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Machine Learning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383280" cy="4663440"/>
          </a:xfrm>
          <a:prstGeom prst="roundRect">
            <a:avLst>
              <a:gd name="adj" fmla="val 270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6" name="Image 0" descr="icons/balanc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3077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76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63040" y="2450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Patient's age in years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0" name="Image 1" descr="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17" y="326783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136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463040" y="3410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 Index (numeric)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4" name="Image 2" descr="icons/userm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422795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096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Type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463040" y="43708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via LabelEncoder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3" descr="icons/runn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17" y="518807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5056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Level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463040" y="53309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via LabelEncoder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160520" y="265176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394960" y="27889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icons/brain_065F4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126" y="2974086"/>
            <a:ext cx="452628" cy="4526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34340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34340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(saved as .pkl via Pickle)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931920" y="3383280"/>
            <a:ext cx="32004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7" name="Shape 20"/>
          <p:cNvSpPr/>
          <p:nvPr/>
        </p:nvSpPr>
        <p:spPr>
          <a:xfrm>
            <a:off x="7360920" y="3383280"/>
            <a:ext cx="32004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8" name="Shape 21"/>
          <p:cNvSpPr/>
          <p:nvPr/>
        </p:nvSpPr>
        <p:spPr>
          <a:xfrm>
            <a:off x="7955280" y="1417320"/>
            <a:ext cx="3611880" cy="466344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/>
        </p:spPr>
      </p:sp>
      <p:sp>
        <p:nvSpPr>
          <p:cNvPr id="29" name="Text 22"/>
          <p:cNvSpPr/>
          <p:nvPr/>
        </p:nvSpPr>
        <p:spPr>
          <a:xfrm>
            <a:off x="822960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Diet Classes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229600" y="2240280"/>
            <a:ext cx="30632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66760" y="2331720"/>
            <a:ext cx="320040" cy="32004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32" name="Image 5" descr="icons/leaf_065F4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2395728"/>
            <a:ext cx="192024" cy="1920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23960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Diet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8229600" y="2898648"/>
            <a:ext cx="30632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366760" y="2990088"/>
            <a:ext cx="320040" cy="32004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36" name="Image 6" descr="icons/leaf_065F4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3054096"/>
            <a:ext cx="192024" cy="19202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823960" y="28986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Sodium Diet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8229600" y="3557016"/>
            <a:ext cx="30632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8366760" y="3648456"/>
            <a:ext cx="320040" cy="32004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40" name="Image 7" descr="icons/leaf_065F4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768" y="3712464"/>
            <a:ext cx="192024" cy="19202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823960" y="35570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Protein Diet</a:t>
            </a:r>
            <a:endParaRPr lang="en-US" sz="1250" dirty="0"/>
          </a:p>
        </p:txBody>
      </p:sp>
      <p:sp>
        <p:nvSpPr>
          <p:cNvPr id="42" name="Shape 32"/>
          <p:cNvSpPr/>
          <p:nvPr/>
        </p:nvSpPr>
        <p:spPr>
          <a:xfrm>
            <a:off x="8229600" y="4215384"/>
            <a:ext cx="30632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8366760" y="4306824"/>
            <a:ext cx="320040" cy="32004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44" name="Image 8" descr="icons/leaf_065F4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0768" y="4370832"/>
            <a:ext cx="192024" cy="192024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882396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Diet</a:t>
            </a:r>
            <a:endParaRPr lang="en-US" sz="1250" dirty="0"/>
          </a:p>
        </p:txBody>
      </p:sp>
      <p:sp>
        <p:nvSpPr>
          <p:cNvPr id="46" name="Shape 35"/>
          <p:cNvSpPr/>
          <p:nvPr/>
        </p:nvSpPr>
        <p:spPr>
          <a:xfrm>
            <a:off x="8229600" y="4873752"/>
            <a:ext cx="30632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8366760" y="4965192"/>
            <a:ext cx="320040" cy="32004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48" name="Image 9" descr="icons/leaf_065F4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0768" y="5029200"/>
            <a:ext cx="192024" cy="192024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8823960" y="48737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Carb Diet</a:t>
            </a:r>
            <a:endParaRPr lang="en-US" sz="1250" dirty="0"/>
          </a:p>
        </p:txBody>
      </p:sp>
      <p:sp>
        <p:nvSpPr>
          <p:cNvPr id="5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classifiers were trained and compared on accuracy before final selection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83080"/>
            <a:ext cx="3794760" cy="4343400"/>
          </a:xfrm>
          <a:prstGeom prst="roundRect">
            <a:avLst>
              <a:gd name="adj" fmla="val 2410"/>
            </a:avLst>
          </a:prstGeom>
          <a:solidFill>
            <a:srgbClr val="ECFDF5"/>
          </a:solidFill>
          <a:ln/>
        </p:spPr>
      </p:sp>
      <p:sp>
        <p:nvSpPr>
          <p:cNvPr id="6" name="Shape 3"/>
          <p:cNvSpPr/>
          <p:nvPr/>
        </p:nvSpPr>
        <p:spPr>
          <a:xfrm>
            <a:off x="8092440" y="20574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458" y="2201418"/>
            <a:ext cx="352044" cy="352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92440" y="2788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Selected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092440" y="34290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matched the top tree-based models on accuracy (~99%) while staying simpler, faster to train, and easier to interpret — making it the ideal choice for a lightweight Flask deployment.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92440" y="5074920"/>
            <a:ext cx="32461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92440" y="5212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trailed well behind at ~52% accuracy and was ruled out.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Walkthrough — Input 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23760" cy="4709160"/>
          </a:xfrm>
          <a:prstGeom prst="roundRect">
            <a:avLst>
              <a:gd name="adj" fmla="val 1165"/>
            </a:avLst>
          </a:prstGeom>
          <a:solidFill>
            <a:srgbClr val="F1F5F9"/>
          </a:solidFill>
          <a:ln/>
        </p:spPr>
      </p:sp>
      <p:pic>
        <p:nvPicPr>
          <p:cNvPr id="4" name="Image 0" descr="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6858000" cy="397823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6002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1" descr="icons/clipboard_10B9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597" y="1713357"/>
            <a:ext cx="276606" cy="2766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32520" y="15819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Form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732520" y="1874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four inputs — age, BMI, disease type, activity level.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092440" y="301752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0" name="Image 2" descr="icons/check_10B98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597" y="3130677"/>
            <a:ext cx="276606" cy="276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32520" y="29992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Selection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732520" y="32918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 populated dynamically from the trained encoders.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092440" y="443484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4" name="Image 3" descr="icons/brain_10B98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597" y="4547997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32520" y="44165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Prediction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732520" y="47091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instantly triggers the ML model via Flask.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Walkthrough — Recommendation Output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95160" y="1417320"/>
            <a:ext cx="4663440" cy="4709160"/>
          </a:xfrm>
          <a:prstGeom prst="roundRect">
            <a:avLst>
              <a:gd name="adj" fmla="val 1176"/>
            </a:avLst>
          </a:prstGeom>
          <a:solidFill>
            <a:srgbClr val="F1F5F9"/>
          </a:solidFill>
          <a:ln/>
        </p:spPr>
      </p:sp>
      <p:pic>
        <p:nvPicPr>
          <p:cNvPr id="4" name="Image 0" descr="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4937760" cy="295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1" descr="icons/leaf_10B9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" y="1530477"/>
            <a:ext cx="276606" cy="2766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3990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Category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88720" y="16916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diet class is shown as the headline result.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0" name="Image 2" descr="icons/check_10B98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2673477"/>
            <a:ext cx="276606" cy="276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5420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Guidance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188720" y="28346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foods and foods to avoid, side by side.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4" name="Image 3" descr="icons/tint_10B98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3816477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6850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Add-ons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88720" y="39776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water intake and activity suggestions included.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8" name="Image 4" descr="icons/running_10B98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4959477"/>
            <a:ext cx="276606" cy="27660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48280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Again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188720" y="51206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click regenerates a fresh recommendation.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Diet Categories &amp; Guidance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724912" cy="4480560"/>
          </a:xfrm>
          <a:prstGeom prst="roundRect">
            <a:avLst>
              <a:gd name="adj" fmla="val 2685"/>
            </a:avLst>
          </a:prstGeom>
          <a:solidFill>
            <a:srgbClr val="ECFD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Sodium Diet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235915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2359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vegetables, fruits &amp; fish for healthy blood pressure.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2359152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57200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486460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Salt, chips, processed foods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56432" y="1463040"/>
            <a:ext cx="2724912" cy="4480560"/>
          </a:xfrm>
          <a:prstGeom prst="roundRect">
            <a:avLst>
              <a:gd name="adj" fmla="val 2685"/>
            </a:avLst>
          </a:prstGeom>
          <a:solidFill>
            <a:srgbClr val="ECFDF5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6916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Protein Diet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39312" y="2514600"/>
            <a:ext cx="235915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651760"/>
            <a:ext cx="2359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Eggs, chicken, fish &amp; beans for muscle growth &amp; recovery.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39312" y="4480560"/>
            <a:ext cx="2359152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3776472" y="457200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76472" y="486460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Sugary foods, soft drinks, cakes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64224" y="1463040"/>
            <a:ext cx="2724912" cy="4480560"/>
          </a:xfrm>
          <a:prstGeom prst="roundRect">
            <a:avLst>
              <a:gd name="adj" fmla="val 2685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16916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Diet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47104" y="2514600"/>
            <a:ext cx="235915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651760"/>
            <a:ext cx="2359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mix of proteins, carbs &amp; fats for overall wellness.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47104" y="4480560"/>
            <a:ext cx="2359152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6684264" y="457200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84264" y="486460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food, fried foods, excess sugar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72016" y="1463040"/>
            <a:ext cx="2724912" cy="4480560"/>
          </a:xfrm>
          <a:prstGeom prst="roundRect">
            <a:avLst>
              <a:gd name="adj" fmla="val 2685"/>
            </a:avLst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9454896" y="16916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Diet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454896" y="2514600"/>
            <a:ext cx="235915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54896" y="2651760"/>
            <a:ext cx="2359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Low-glycemic foods to help manage blood glucose levels.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54896" y="4480560"/>
            <a:ext cx="2359152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9592056" y="457200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592056" y="486460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Sweets, chocolate, sugary drinks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5" name="Image 0" descr="icons/mob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184594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assistant to a native Android/iOS experience.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169164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0" name="Image 1" descr="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305" y="184594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&amp; Macro Tracking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log meals and track progress over time.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8321040" y="169164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5" name="Image 2" descr="icons/robo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45" y="1845945"/>
            <a:ext cx="377190" cy="3771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Chatbot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2104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interface for follow-up questions and swaps.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388620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0" name="Image 3" descr="icons/heartbea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5" y="4040505"/>
            <a:ext cx="377190" cy="3771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663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2296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real-time activity &amp; vitals from fitness trackers.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9768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/>
        </p:spPr>
      </p:sp>
      <p:sp>
        <p:nvSpPr>
          <p:cNvPr id="24" name="Shape 18"/>
          <p:cNvSpPr/>
          <p:nvPr/>
        </p:nvSpPr>
        <p:spPr>
          <a:xfrm>
            <a:off x="4572000" y="388620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5" name="Image 4" descr="icons/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305" y="4040505"/>
            <a:ext cx="377190" cy="37719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0" y="4663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Richer Dataset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7200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more diverse health &amp; regional food data.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46720" y="3611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/>
        </p:spPr>
      </p:sp>
      <p:sp>
        <p:nvSpPr>
          <p:cNvPr id="29" name="Shape 22"/>
          <p:cNvSpPr/>
          <p:nvPr/>
        </p:nvSpPr>
        <p:spPr>
          <a:xfrm>
            <a:off x="8321040" y="388620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0" name="Image 5" descr="icons/bulb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345" y="4040505"/>
            <a:ext cx="377190" cy="37719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21040" y="46634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Recommendations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32104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*why* a diet was recommended for trust &amp; clarity.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2468880"/>
            <a:ext cx="1645920" cy="1645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4" name="Image 0" descr="icons/leaf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452" y="2839212"/>
            <a:ext cx="905256" cy="905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9768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297680" y="32461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Diet Recommendation System — turning raw health data into personalized, actionable nutrition guidance.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976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2026-07-10T10:16:15Z</dcterms:created>
  <dcterms:modified xsi:type="dcterms:W3CDTF">2026-07-10T10:16:15Z</dcterms:modified>
</cp:coreProperties>
</file>